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22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65760" y="1143000"/>
            <a:ext cx="8686800" cy="822960"/>
          </a:xfrm>
        </p:spPr>
        <p:txBody>
          <a:bodyPr/>
          <a:lstStyle/>
          <a:p>
            <a:pPr>
              <a:defRPr sz="2000" b="1">
                <a:solidFill>
                  <a:srgbClr val="047857"/>
                </a:solidFill>
                <a:latin typeface="Arial"/>
              </a:defRPr>
            </a:pPr>
            <a:r>
              <a:t>AgriConnect Maharashtra (कृषी जोड महाराष्ट्र)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  <a:defRPr sz="1250" b="0">
                <a:solidFill>
                  <a:srgbClr val="475569"/>
                </a:solidFill>
                <a:latin typeface="Arial"/>
              </a:defRPr>
            </a:pPr>
            <a:r>
              <a:t>Direct Farmer-to-Market Intelligence &amp; 7-Stage Milestone Escrow Platform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5760" y="228600"/>
            <a:ext cx="10363200" cy="914400"/>
          </a:xfrm>
        </p:spPr>
        <p:txBody>
          <a:bodyPr/>
          <a:lstStyle/>
          <a:p>
            <a:pPr>
              <a:defRPr sz="3400" b="1">
                <a:solidFill>
                  <a:srgbClr val="0F172A"/>
                </a:solidFill>
                <a:latin typeface="Arial"/>
              </a:defRPr>
            </a:pPr>
            <a: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2148840"/>
            <a:ext cx="658368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Problem Statement: </a:t>
            </a:r>
            <a:r>
              <a:rPr sz="1200" b="0">
                <a:solidFill>
                  <a:srgbClr val="1E293B"/>
                </a:solidFill>
                <a:latin typeface="Arial"/>
              </a:rPr>
              <a:t>Strengthening market linkages and price discovery for farmers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Ministry / Organization: </a:t>
            </a:r>
            <a:r>
              <a:rPr sz="1200" b="0">
                <a:solidFill>
                  <a:srgbClr val="1E293B"/>
                </a:solidFill>
                <a:latin typeface="Arial"/>
              </a:rPr>
              <a:t>Government of Maharashtra / MSIS &amp; Agriculture Dept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Theme: </a:t>
            </a:r>
            <a:r>
              <a:rPr sz="1200" b="0">
                <a:solidFill>
                  <a:srgbClr val="1E293B"/>
                </a:solidFill>
                <a:latin typeface="Arial"/>
              </a:rPr>
              <a:t>Direct farmer-to-consumer marketplace / Agri-Tech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Category: </a:t>
            </a:r>
            <a:r>
              <a:rPr sz="1200" b="0">
                <a:solidFill>
                  <a:srgbClr val="1E293B"/>
                </a:solidFill>
                <a:latin typeface="Arial"/>
              </a:rPr>
              <a:t>Software (Full-Stack Web &amp; Mobile PWA)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Team Name: </a:t>
            </a:r>
            <a:r>
              <a:rPr sz="1200" b="0">
                <a:solidFill>
                  <a:srgbClr val="1E293B"/>
                </a:solidFill>
                <a:latin typeface="Arial"/>
              </a:rPr>
              <a:t>Team Paradex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Live Prototype: </a:t>
            </a:r>
            <a:r>
              <a:rPr sz="1200" b="0">
                <a:solidFill>
                  <a:srgbClr val="1E293B"/>
                </a:solidFill>
                <a:latin typeface="Arial"/>
              </a:rPr>
              <a:t>https://agriconnect-maharashtra.vercel.app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47857"/>
                </a:solidFill>
                <a:latin typeface="Arial"/>
              </a:rPr>
              <a:t>GitHub Repository: </a:t>
            </a:r>
            <a:r>
              <a:rPr sz="1200" b="0">
                <a:solidFill>
                  <a:srgbClr val="1E293B"/>
                </a:solidFill>
                <a:latin typeface="Arial"/>
              </a:rPr>
              <a:t>https://github.com/abdul-halik-ai/agriconnect-maharashtra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548640" y="182880"/>
            <a:ext cx="10972800" cy="1143000"/>
          </a:xfrm>
        </p:spPr>
        <p:txBody>
          <a:bodyPr/>
          <a:lstStyle/>
          <a:p>
            <a:pPr eaLnBrk="1" hangingPunct="1">
              <a:defRPr sz="2100" b="1">
                <a:solidFill>
                  <a:srgbClr val="0F172A"/>
                </a:solidFill>
                <a:latin typeface="Arial"/>
              </a:defRPr>
            </a:pPr>
            <a:r>
              <a:t>IDEA: AgriConnect Maharashtra (कृषी जोड महाराष्ट्र)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53035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CORE CAPABILITIES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APMC Price Telemetry: </a:t>
            </a:r>
            <a:r>
              <a:rPr sz="1100" b="0">
                <a:solidFill>
                  <a:srgbClr val="475569"/>
                </a:solidFill>
                <a:latin typeface="Arial"/>
              </a:rPr>
              <a:t>Live rates across 6 major hubs with 7d/14d EMA Sell/Hold advisory.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Fractional Lot Pooling: </a:t>
            </a:r>
            <a:r>
              <a:rPr sz="1100" b="0">
                <a:solidFill>
                  <a:srgbClr val="475569"/>
                </a:solidFill>
                <a:latin typeface="Arial"/>
              </a:rPr>
              <a:t>Aggregates small harvests into Grade-A commercial bulk lots.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Digital Lot Passport: </a:t>
            </a:r>
            <a:r>
              <a:rPr sz="1100" b="0">
                <a:solidFill>
                  <a:srgbClr val="475569"/>
                </a:solidFill>
                <a:latin typeface="Arial"/>
              </a:rPr>
              <a:t>Tamper-proof SHA-256 QR certificate with moisture &amp; grade metrics.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Milestone Escrow: </a:t>
            </a:r>
            <a:r>
              <a:rPr sz="1100" b="0">
                <a:solidFill>
                  <a:srgbClr val="475569"/>
                </a:solidFill>
                <a:latin typeface="Arial"/>
              </a:rPr>
              <a:t>100% payment security locking buyer funds before dispatch.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INNOVATION &amp; VALUE ADD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Mandi Arbitrage Matrix: </a:t>
            </a:r>
            <a:r>
              <a:rPr sz="1100" b="0">
                <a:solidFill>
                  <a:srgbClr val="475569"/>
                </a:solidFill>
                <a:latin typeface="Arial"/>
              </a:rPr>
              <a:t>Real-time freight deduction (₹/km) for optimal market dispatch.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Automated Fair Payout: </a:t>
            </a:r>
            <a:r>
              <a:rPr sz="1100" b="0">
                <a:solidFill>
                  <a:srgbClr val="475569"/>
                </a:solidFill>
                <a:latin typeface="Arial"/>
              </a:rPr>
              <a:t>Direct split disbursements to farmers' bank accounts upon weighment.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State Telemetry: </a:t>
            </a:r>
            <a:r>
              <a:rPr sz="1100" b="0">
                <a:solidFill>
                  <a:srgbClr val="475569"/>
                </a:solidFill>
                <a:latin typeface="Arial"/>
              </a:rPr>
              <a:t>Administrative dashboard for mandi monitoring &amp; dispute arbitration.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Vernacular Rural UX: </a:t>
            </a:r>
            <a:r>
              <a:rPr sz="1100" b="0">
                <a:solidFill>
                  <a:srgbClr val="475569"/>
                </a:solidFill>
                <a:latin typeface="Arial"/>
              </a:rPr>
              <a:t>100% Marathi/English toggle with PWA offline resilience.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Paradex</a:t>
            </a:r>
            <a:endParaRPr lang="en-IN" sz="1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price_intelli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188720"/>
            <a:ext cx="5760720" cy="3703320"/>
          </a:xfrm>
          <a:prstGeom prst="rect">
            <a:avLst/>
          </a:prstGeom>
        </p:spPr>
      </p:pic>
      <p:sp>
        <p:nvSpPr>
          <p:cNvPr id="15364" name="Rounded Rectangle 15363"/>
          <p:cNvSpPr/>
          <p:nvPr/>
        </p:nvSpPr>
        <p:spPr>
          <a:xfrm>
            <a:off x="5943600" y="4983480"/>
            <a:ext cx="5760720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E293B"/>
                </a:solidFill>
                <a:latin typeface="Arial"/>
              </a:rPr>
              <a:t>Live Production UI — </a:t>
            </a:r>
            <a:r>
              <a:rPr sz="1000" b="0">
                <a:solidFill>
                  <a:srgbClr val="475569"/>
                </a:solidFill>
                <a:latin typeface="Arial"/>
              </a:rPr>
              <a:t>Real-time APMC Mandi Price Discovery &amp; Sell/Hold Advisory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48640" y="182880"/>
          </a:xfrm>
        </p:spPr>
        <p:txBody>
          <a:bodyPr/>
          <a:lstStyle/>
          <a:p>
            <a:pPr eaLnBrk="1" hangingPunct="1">
              <a:defRPr sz="2100" b="1">
                <a:solidFill>
                  <a:srgbClr val="0F172A"/>
                </a:solidFill>
                <a:latin typeface="Arial"/>
              </a:defRPr>
            </a:pPr>
            <a:r>
              <a:t>TECHNICAL APPROACH &amp; SYSTEM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42414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Paradex</a:t>
            </a:r>
            <a:endParaRPr lang="en-IN" sz="1400" dirty="0"/>
          </a:p>
          <a:p>
            <a:pPr algn="ctr"/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5F7F5D1-8C49-173D-F952-259D3B959D0B}"/>
              </a:ext>
            </a:extLst>
          </p:cNvPr>
          <p:cNvSpPr txBox="1"/>
          <p:nvPr/>
        </p:nvSpPr>
        <p:spPr>
          <a:xfrm>
            <a:off x="457200" y="1143000"/>
            <a:ext cx="5120640" cy="4937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 b="1">
                <a:solidFill>
                  <a:srgbClr val="047857"/>
                </a:solidFill>
                <a:latin typeface="Arial"/>
              </a:defRPr>
            </a:pPr>
            <a:r>
              <a:t>PRODUCTION TECH STACK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Frontend: </a:t>
            </a:r>
            <a:r>
              <a:rPr sz="1100" b="0">
                <a:solidFill>
                  <a:srgbClr val="475569"/>
                </a:solidFill>
                <a:latin typeface="Arial"/>
              </a:rPr>
              <a:t>Next.js 14 App Router, React Server Components, Tailwind CSS.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Analytics: </a:t>
            </a:r>
            <a:r>
              <a:rPr sz="1100" b="0">
                <a:solidFill>
                  <a:srgbClr val="475569"/>
                </a:solidFill>
                <a:latin typeface="Arial"/>
              </a:rPr>
              <a:t>Recharts dynamic charts, HTML5 QR scanner &amp; SVG generator.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Backend &amp; DB: </a:t>
            </a:r>
            <a:r>
              <a:rPr sz="1100" b="0">
                <a:solidFill>
                  <a:srgbClr val="475569"/>
                </a:solidFill>
                <a:latin typeface="Arial"/>
              </a:rPr>
              <a:t>Prisma ORM, Dual-Engine DB (PostgreSQL / Neon + SQLite).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Security: </a:t>
            </a:r>
            <a:r>
              <a:rPr sz="1100" b="0">
                <a:solidFill>
                  <a:srgbClr val="475569"/>
                </a:solidFill>
                <a:latin typeface="Arial"/>
              </a:rPr>
              <a:t>NextAuth.js multi-role auth (Farmer, FPO, Buyer, Officer).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Algorithms: </a:t>
            </a:r>
            <a:r>
              <a:rPr sz="1100" b="0">
                <a:solidFill>
                  <a:srgbClr val="475569"/>
                </a:solidFill>
                <a:latin typeface="Arial"/>
              </a:rPr>
              <a:t>7d/14d EMA price forecasting, distance freight arbitrage.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PERFORMANCE &amp; ARCHITECTURE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&lt;800ms Latency: </a:t>
            </a:r>
            <a:r>
              <a:rPr sz="1100" b="0">
                <a:solidFill>
                  <a:srgbClr val="475569"/>
                </a:solidFill>
                <a:latin typeface="Arial"/>
              </a:rPr>
              <a:t>Serverless Edge deployment for fast rural responsiveness.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Zero Downtime: </a:t>
            </a:r>
            <a:r>
              <a:rPr sz="1100" b="0">
                <a:solidFill>
                  <a:srgbClr val="475569"/>
                </a:solidFill>
                <a:latin typeface="Arial"/>
              </a:rPr>
              <a:t>Resilient in-memory mock fallback adapter.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Mobile PWA: </a:t>
            </a:r>
            <a:r>
              <a:rPr sz="1100" b="0">
                <a:solidFill>
                  <a:srgbClr val="475569"/>
                </a:solidFill>
                <a:latin typeface="Arial"/>
              </a:rPr>
              <a:t>Touch-friendly bottom bar navigation &amp; offline caching.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SHA-256 Hashes: </a:t>
            </a:r>
            <a:r>
              <a:rPr sz="1100" b="0">
                <a:solidFill>
                  <a:srgbClr val="475569"/>
                </a:solidFill>
                <a:latin typeface="Arial"/>
              </a:rPr>
              <a:t>Tamper-proof cryptographic lot passport integrity.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0E9AD-9E95-773F-EDEC-D68A68EF5C8C}"/>
              </a:ext>
            </a:extLst>
          </p:cNvPr>
          <p:cNvSpPr txBox="1"/>
          <p:nvPr/>
        </p:nvSpPr>
        <p:spPr>
          <a:xfrm>
            <a:off x="865239" y="1639983"/>
            <a:ext cx="1655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/>
        </p:txBody>
      </p:sp>
      <p:pic>
        <p:nvPicPr>
          <p:cNvPr id="17410" name="Picture 17409" descr="architecture_flow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188720"/>
            <a:ext cx="6035040" cy="3342484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760720" y="4709160"/>
            <a:ext cx="6035040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E293B"/>
                </a:solidFill>
                <a:latin typeface="Arial"/>
              </a:rPr>
              <a:t>System Architecture Flowchart — </a:t>
            </a:r>
            <a:r>
              <a:rPr sz="1000" b="0">
                <a:solidFill>
                  <a:srgbClr val="475569"/>
                </a:solidFill>
                <a:latin typeface="Arial"/>
              </a:rPr>
              <a:t>5-Stage Pipeline: Aggregation → Advisory → Escrow → Delivery → Settlement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48640" y="182880"/>
          </a:xfrm>
        </p:spPr>
        <p:txBody>
          <a:bodyPr/>
          <a:lstStyle/>
          <a:p>
            <a:pPr eaLnBrk="1" hangingPunct="1">
              <a:defRPr sz="2100" b="1">
                <a:solidFill>
                  <a:srgbClr val="0F172A"/>
                </a:solidFill>
                <a:latin typeface="Arial"/>
              </a:defRPr>
            </a:pPr>
            <a:r>
              <a:t>FEASIBILITY, VIABILITY &amp; RISK MITIGATION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512064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FEASIBILITY PILLARS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Technical: </a:t>
            </a:r>
            <a:r>
              <a:rPr sz="1100" b="0">
                <a:solidFill>
                  <a:srgbClr val="475569"/>
                </a:solidFill>
                <a:latin typeface="Arial"/>
              </a:rPr>
              <a:t>100% built, tested &amp; deployed live on Vercel with zero latency.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Operational: </a:t>
            </a:r>
            <a:r>
              <a:rPr sz="1100" b="0">
                <a:solidFill>
                  <a:srgbClr val="475569"/>
                </a:solidFill>
                <a:latin typeface="Arial"/>
              </a:rPr>
              <a:t>Plug-and-play with APMC yard rules and MSAMB standards.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Economic: </a:t>
            </a:r>
            <a:r>
              <a:rPr sz="1100" b="0">
                <a:solidFill>
                  <a:srgbClr val="475569"/>
                </a:solidFill>
                <a:latin typeface="Arial"/>
              </a:rPr>
              <a:t>0% farmer fee; self-sustaining 1.25% FPO escrow facilitation fee.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CHALLENGES &amp; MITIGATIONS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▲ Digital Literacy: </a:t>
            </a:r>
            <a:r>
              <a:rPr sz="1100" b="0">
                <a:solidFill>
                  <a:srgbClr val="475569"/>
                </a:solidFill>
                <a:latin typeface="Arial"/>
              </a:rPr>
              <a:t>Vernacular Marathi UI + FPO village kiosk assistance.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▲ Grading Disputes: </a:t>
            </a:r>
            <a:r>
              <a:rPr sz="1100" b="0">
                <a:solidFill>
                  <a:srgbClr val="475569"/>
                </a:solidFill>
                <a:latin typeface="Arial"/>
              </a:rPr>
              <a:t>Verifiable QR passport + sample seal and moisture logs.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▲ Payment Default: </a:t>
            </a:r>
            <a:r>
              <a:rPr sz="1100" b="0">
                <a:solidFill>
                  <a:srgbClr val="475569"/>
                </a:solidFill>
                <a:latin typeface="Arial"/>
              </a:rPr>
              <a:t>100% milestone escrow funding before harvest dispatch.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▲ Rural Connectivity: </a:t>
            </a:r>
            <a:r>
              <a:rPr sz="1100" b="0">
                <a:solidFill>
                  <a:srgbClr val="475569"/>
                </a:solidFill>
                <a:latin typeface="Arial"/>
              </a:rPr>
              <a:t>PWA offline caching + automated SMS transaction alerts.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Paradex</a:t>
            </a:r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escrow_flow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188720"/>
            <a:ext cx="6035040" cy="3342484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760720" y="4709160"/>
            <a:ext cx="6035040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E293B"/>
                </a:solidFill>
                <a:latin typeface="Arial"/>
              </a:rPr>
              <a:t>7-Stage Milestone Escrow Protocol — </a:t>
            </a:r>
            <a:r>
              <a:rPr sz="1000" b="0">
                <a:solidFill>
                  <a:srgbClr val="475569"/>
                </a:solidFill>
                <a:latin typeface="Arial"/>
              </a:rPr>
              <a:t>Guaranteed Payment Protection: Lock → Transit → Weighment → Payout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48640" y="182880"/>
          </a:xfrm>
        </p:spPr>
        <p:txBody>
          <a:bodyPr/>
          <a:lstStyle/>
          <a:p>
            <a:pPr eaLnBrk="1" hangingPunct="1">
              <a:defRPr sz="2100" b="1">
                <a:solidFill>
                  <a:srgbClr val="0F172A"/>
                </a:solidFill>
                <a:latin typeface="Arial"/>
              </a:defRPr>
            </a:pPr>
            <a:r>
              <a:t>IMPACT AND STAKEHOLDER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53035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KEY QUANTIFIABLE METRICS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★ +14.8% Uplift: </a:t>
            </a:r>
            <a:r>
              <a:rPr sz="1100" b="0">
                <a:solidFill>
                  <a:srgbClr val="1E293B"/>
                </a:solidFill>
                <a:latin typeface="Arial"/>
              </a:rPr>
              <a:t>Average farmer net price increase by bypassing middlemen.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★ 24-Hr Settlement: </a:t>
            </a:r>
            <a:r>
              <a:rPr sz="1100" b="0">
                <a:solidFill>
                  <a:srgbClr val="1E293B"/>
                </a:solidFill>
                <a:latin typeface="Arial"/>
              </a:rPr>
              <a:t>Direct DBT credit into farmer accounts after weighment.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★ 100% Protection: </a:t>
            </a:r>
            <a:r>
              <a:rPr sz="1100" b="0">
                <a:solidFill>
                  <a:srgbClr val="1E293B"/>
                </a:solidFill>
                <a:latin typeface="Arial"/>
              </a:rPr>
              <a:t>Zero default risk via mandatory milestone escrow deposit.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047857"/>
                </a:solidFill>
                <a:latin typeface="Arial"/>
              </a:rPr>
              <a:t>★ 36 Districts: </a:t>
            </a:r>
            <a:r>
              <a:rPr sz="1100" b="0">
                <a:solidFill>
                  <a:srgbClr val="1E293B"/>
                </a:solidFill>
                <a:latin typeface="Arial"/>
              </a:rPr>
              <a:t>Real-time state-wide mandi price and arrival visibility.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STAKEHOLDER BENEFITS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Smallholder Farmers: </a:t>
            </a:r>
            <a:r>
              <a:rPr sz="1100" b="0">
                <a:solidFill>
                  <a:srgbClr val="475569"/>
                </a:solidFill>
                <a:latin typeface="Arial"/>
              </a:rPr>
              <a:t>Higher realizations, fair digital weighment, no delayed credit.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FPOs: </a:t>
            </a:r>
            <a:r>
              <a:rPr sz="1100" b="0">
                <a:solidFill>
                  <a:srgbClr val="475569"/>
                </a:solidFill>
                <a:latin typeface="Arial"/>
              </a:rPr>
              <a:t>Commercial aggregation scale with automated member payout ledgers.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Institutional Buyers: </a:t>
            </a:r>
            <a:r>
              <a:rPr sz="1100" b="0">
                <a:solidFill>
                  <a:srgbClr val="475569"/>
                </a:solidFill>
                <a:latin typeface="Arial"/>
              </a:rPr>
              <a:t>Traceable Grade-A produce with verified moisture certificates.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Govt of Maharashtra: </a:t>
            </a:r>
            <a:r>
              <a:rPr sz="1100" b="0">
                <a:solidFill>
                  <a:srgbClr val="475569"/>
                </a:solidFill>
                <a:latin typeface="Arial"/>
              </a:rPr>
              <a:t>Macro supply telemetry, distress sale heatmaps &amp; fraud prevention.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Paradex</a:t>
            </a:r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dmin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188720"/>
            <a:ext cx="5760720" cy="370332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943600" y="4983480"/>
            <a:ext cx="5760720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E293B"/>
                </a:solidFill>
                <a:latin typeface="Arial"/>
              </a:rPr>
              <a:t>State Administration Dashboard — </a:t>
            </a:r>
            <a:r>
              <a:rPr sz="1000" b="0">
                <a:solidFill>
                  <a:srgbClr val="475569"/>
                </a:solidFill>
                <a:latin typeface="Arial"/>
              </a:rPr>
              <a:t>Live GMV (₹23.7L+), District Heatmaps, KYC Approval &amp; Dispute Center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48640" y="182880"/>
          </a:xfrm>
        </p:spPr>
        <p:txBody>
          <a:bodyPr/>
          <a:lstStyle/>
          <a:p>
            <a:pPr eaLnBrk="1" hangingPunct="1">
              <a:defRPr sz="2100" b="1">
                <a:solidFill>
                  <a:srgbClr val="0F172A"/>
                </a:solidFill>
                <a:latin typeface="Arial"/>
              </a:defRPr>
            </a:pPr>
            <a:r>
              <a:t>RESEARCH, REFERENCES &amp; LIVE DEMONSTRATION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53035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lvl="0" indent="-285750">
              <a:spcAft>
                <a:spcPts val="400"/>
              </a:spcAft>
              <a:buFont typeface="Arial" panose="020B0604020202020204" pitchFamily="34" charset="0"/>
              <a:buChar char="•"/>
              <a:defRPr sz="1400" b="1">
                <a:solidFill>
                  <a:srgbClr val="047857"/>
                </a:solidFill>
                <a:latin typeface="Arial"/>
              </a:defRPr>
            </a:pPr>
            <a:r>
              <a:t>INSTITUTIONAL BENCHMARKS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MSAMB: </a:t>
            </a:r>
            <a:r>
              <a:rPr sz="1100" b="0">
                <a:solidFill>
                  <a:srgbClr val="475569"/>
                </a:solidFill>
                <a:latin typeface="Arial"/>
              </a:rPr>
              <a:t>Daily APMC mandi arrivals, modal prices &amp; APMC Act rules.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Agmarknet (GoI): </a:t>
            </a:r>
            <a:r>
              <a:rPr sz="1100" b="0">
                <a:solidFill>
                  <a:srgbClr val="475569"/>
                </a:solidFill>
                <a:latin typeface="Arial"/>
              </a:rPr>
              <a:t>Historical daily commodity price trends &amp; grade standards.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e-NAM Architecture: </a:t>
            </a:r>
            <a:r>
              <a:rPr sz="1100" b="0">
                <a:solidFill>
                  <a:srgbClr val="475569"/>
                </a:solidFill>
                <a:latin typeface="Arial"/>
              </a:rPr>
              <a:t>Inter-mandi trading protocols &amp; e-NWR warehouse norms.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World Bank SMART: </a:t>
            </a:r>
            <a:r>
              <a:rPr sz="1100" b="0">
                <a:solidFill>
                  <a:srgbClr val="475569"/>
                </a:solidFill>
                <a:latin typeface="Arial"/>
              </a:rPr>
              <a:t>State of Maharashtra's Agribusiness transformation data.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47857"/>
                </a:solidFill>
                <a:latin typeface="Arial"/>
              </a:defRPr>
            </a:pPr>
            <a:r>
              <a:t>MANDI FIELD RESEARCH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Lasalgaon (Nashik): </a:t>
            </a:r>
            <a:r>
              <a:rPr sz="1100" b="0">
                <a:solidFill>
                  <a:srgbClr val="475569"/>
                </a:solidFill>
                <a:latin typeface="Arial"/>
              </a:rPr>
              <a:t>Onion price volatility &amp; seasonal storage loss.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Pune Gultekdi: </a:t>
            </a:r>
            <a:r>
              <a:rPr sz="1100" b="0">
                <a:solidFill>
                  <a:srgbClr val="475569"/>
                </a:solidFill>
                <a:latin typeface="Arial"/>
              </a:rPr>
              <a:t>Perishable vegetable supply chains &amp; commission spreads.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Nashik &amp; Nagpur: </a:t>
            </a:r>
            <a:r>
              <a:rPr sz="1100" b="0">
                <a:solidFill>
                  <a:srgbClr val="475569"/>
                </a:solidFill>
                <a:latin typeface="Arial"/>
              </a:rPr>
              <a:t>Grapes cold chain logistics &amp; soybean industrial sourcing.</a:t>
            </a:r>
          </a:p>
          <a:p>
            <a:pPr>
              <a:spcAft>
                <a:spcPts val="35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Kolhapur APMC: </a:t>
            </a:r>
            <a:r>
              <a:rPr sz="1100" b="0">
                <a:solidFill>
                  <a:srgbClr val="475569"/>
                </a:solidFill>
                <a:latin typeface="Arial"/>
              </a:rPr>
              <a:t>Regional jaggery (Gur) and commercial sugarcane contracts.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Paradex</a:t>
            </a:r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IN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po_aggre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1188720"/>
            <a:ext cx="5760720" cy="370332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943600" y="4983480"/>
            <a:ext cx="5760720" cy="594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1E293B"/>
                </a:solidFill>
                <a:latin typeface="Arial"/>
              </a:rPr>
              <a:t>Live Web Deployment — </a:t>
            </a:r>
            <a:r>
              <a:rPr sz="1000" b="0">
                <a:solidFill>
                  <a:srgbClr val="475569"/>
                </a:solidFill>
                <a:latin typeface="Arial"/>
              </a:rPr>
              <a:t>https://agriconnect-maharashtra.vercel.app • GitHub: Team Paradex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7532</TotalTime>
  <Words>232</Words>
  <Application>Microsoft Office PowerPoint</Application>
  <PresentationFormat>Widescreen</PresentationFormat>
  <Paragraphs>91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harinisuresh2006@outlook.com</cp:lastModifiedBy>
  <cp:revision>160</cp:revision>
  <dcterms:created xsi:type="dcterms:W3CDTF">2013-12-12T18:46:50Z</dcterms:created>
  <dcterms:modified xsi:type="dcterms:W3CDTF">2026-09-08T13:22:48Z</dcterms:modified>
  <cp:category/>
</cp:coreProperties>
</file>