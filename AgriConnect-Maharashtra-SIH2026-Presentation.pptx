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22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188720"/>
            <a:ext cx="8686800" cy="822960"/>
          </a:xfrm>
        </p:spPr>
        <p:txBody>
          <a:bodyPr/>
          <a:lstStyle/>
          <a:p>
            <a:pPr>
              <a:defRPr sz="2000" b="1">
                <a:solidFill>
                  <a:srgbClr val="065F46"/>
                </a:solidFill>
                <a:latin typeface="Arial"/>
              </a:defRPr>
            </a:pPr>
            <a:r>
              <a:t>AgriConnect Maharashtra (कृषी जोड महाराष्ट्र)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300" b="0">
                <a:solidFill>
                  <a:srgbClr val="4B5563"/>
                </a:solidFill>
                <a:latin typeface="Arial"/>
              </a:defRPr>
            </a:pPr>
            <a:r>
              <a:t>Direct Farmer-to-Market Intelligence &amp; 7-Stage Milestone Escrow Platform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182880"/>
            <a:ext cx="10363200" cy="1005840"/>
          </a:xfrm>
        </p:spPr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148840"/>
            <a:ext cx="685800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Problem Statement: </a:t>
            </a:r>
            <a:r>
              <a:rPr sz="1250" b="0">
                <a:solidFill>
                  <a:srgbClr val="1F2937"/>
                </a:solidFill>
                <a:latin typeface="Arial"/>
              </a:rPr>
              <a:t>Strengthening market linkages and price discovery for farmers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Ministry / Organization: </a:t>
            </a:r>
            <a:r>
              <a:rPr sz="1250" b="0">
                <a:solidFill>
                  <a:srgbClr val="1F2937"/>
                </a:solidFill>
                <a:latin typeface="Arial"/>
              </a:rPr>
              <a:t>Government of Maharashtra / MSIS &amp; Agriculture Dept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Theme: </a:t>
            </a:r>
            <a:r>
              <a:rPr sz="1250" b="0">
                <a:solidFill>
                  <a:srgbClr val="1F2937"/>
                </a:solidFill>
                <a:latin typeface="Arial"/>
              </a:rPr>
              <a:t>Direct farmer-to-consumer marketplace / Agri-Tech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Category: </a:t>
            </a:r>
            <a:r>
              <a:rPr sz="1250" b="0">
                <a:solidFill>
                  <a:srgbClr val="1F2937"/>
                </a:solidFill>
                <a:latin typeface="Arial"/>
              </a:rPr>
              <a:t>Software (Full-Stack Web &amp; Mobile PWA)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Team Name: </a:t>
            </a:r>
            <a:r>
              <a:rPr sz="1250" b="0">
                <a:solidFill>
                  <a:srgbClr val="1F2937"/>
                </a:solidFill>
                <a:latin typeface="Arial"/>
              </a:rPr>
              <a:t>Team Paradex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Live Prototype: </a:t>
            </a:r>
            <a:r>
              <a:rPr sz="1250" b="0">
                <a:solidFill>
                  <a:srgbClr val="1F2937"/>
                </a:solidFill>
                <a:latin typeface="Arial"/>
              </a:rPr>
              <a:t>https://agriconnect-maharashtra.vercel.app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65F46"/>
                </a:solidFill>
                <a:latin typeface="Arial"/>
              </a:rPr>
              <a:t>GitHub Repository: </a:t>
            </a:r>
            <a:r>
              <a:rPr sz="1250" b="0">
                <a:solidFill>
                  <a:srgbClr val="1F2937"/>
                </a:solidFill>
                <a:latin typeface="Arial"/>
              </a:rPr>
              <a:t>https://github.com/abdul-halik-ai/agriconnect-maharashtra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F172A"/>
                </a:solidFill>
                <a:latin typeface="Arial"/>
              </a:defRPr>
            </a:pPr>
            <a:r>
              <a:t>IDEA: AgriConnect Maharashtra (कृषी जोड महाराष्ट्र)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PROPOSED SOLUTION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Real-Time APMC Price Intelligence &amp; Predictive Analytics: </a:t>
            </a:r>
            <a:r>
              <a:rPr sz="1150" b="0">
                <a:solidFill>
                  <a:srgbClr val="4B5563"/>
                </a:solidFill>
                <a:latin typeface="Arial"/>
              </a:rPr>
              <a:t>Ingests live mandi telemetry across Maharashtra (Lasalgaon, Pune, Nashik, Kolhapur, etc.) with 7d/14d EMA trends and heuristic Hold/Sell advisory to stop distress selling.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FPO Fractional Lot Aggregation &amp; Pooling: </a:t>
            </a:r>
            <a:r>
              <a:rPr sz="1150" b="0">
                <a:solidFill>
                  <a:srgbClr val="4B5563"/>
                </a:solidFill>
                <a:latin typeface="Arial"/>
              </a:rPr>
              <a:t>Enables smallholders to pool sub-ton harvests into commercial Grade-A lots with transparent percentage-share accounting.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Verifiable Digital Lot Passport &amp; QR: </a:t>
            </a:r>
            <a:r>
              <a:rPr sz="1150" b="0">
                <a:solidFill>
                  <a:srgbClr val="4B5563"/>
                </a:solidFill>
                <a:latin typeface="Arial"/>
              </a:rPr>
              <a:t>Generates tamper-proof SHA-256 passports recording harvest date, moisture %, visual grade, and MSWC cold storage suitability.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7-Stage Milestone Escrow Protocol: </a:t>
            </a:r>
            <a:r>
              <a:rPr sz="1150" b="0">
                <a:solidFill>
                  <a:srgbClr val="4B5563"/>
                </a:solidFill>
                <a:latin typeface="Arial"/>
              </a:rPr>
              <a:t>Eliminates payment defaults by locking buyer funds in trust prior to dispatch, releasing payout upon digital weighment.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INNOVATION &amp; UNIQUENESS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Mandi Arbitrage Matrix: </a:t>
            </a:r>
            <a:r>
              <a:rPr sz="1150" b="0">
                <a:solidFill>
                  <a:srgbClr val="4B5563"/>
                </a:solidFill>
                <a:latin typeface="Arial"/>
              </a:rPr>
              <a:t>Calculates net margins across neighboring APMCs factoring in distance and freight economics (₹/km) for optimal dispatch.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Automated Fair-Share Payout Ledger: </a:t>
            </a:r>
            <a:r>
              <a:rPr sz="1150" b="0">
                <a:solidFill>
                  <a:srgbClr val="4B5563"/>
                </a:solidFill>
                <a:latin typeface="Arial"/>
              </a:rPr>
              <a:t>Instantly splits escrow funds directly into individual farmers' DBT accounts upon certified weighment sign-off.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State Administrative Oversight: </a:t>
            </a:r>
            <a:r>
              <a:rPr sz="1150" b="0">
                <a:solidFill>
                  <a:srgbClr val="4B5563"/>
                </a:solidFill>
                <a:latin typeface="Arial"/>
              </a:rPr>
              <a:t>Dedicated Government dashboard providing live mandi arrival trends, distress sale heatmaps, and digital dispute arbitration.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Rural Vernacular UX &amp; Offline PWA: </a:t>
            </a:r>
            <a:r>
              <a:rPr sz="1150" b="0">
                <a:solidFill>
                  <a:srgbClr val="4B5563"/>
                </a:solidFill>
                <a:latin typeface="Arial"/>
              </a:rPr>
              <a:t>100% Marathi/English interface with high-contrast visual stages and resilient offline mock data fallback.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Paradex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424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Paradex</a:t>
            </a:r>
            <a:endParaRPr lang="en-IN" sz="1400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F7F5D1-8C49-173D-F952-259D3B959D0B}"/>
              </a:ext>
            </a:extLst>
          </p:cNvPr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1">
                <a:solidFill>
                  <a:srgbClr val="065F46"/>
                </a:solidFill>
                <a:latin typeface="Arial"/>
              </a:rPr>
              <a:t>PRODUCTION TECHNOLOGY STACK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Frontend Framework: </a:t>
            </a:r>
            <a:r>
              <a:rPr sz="1100" b="0">
                <a:solidFill>
                  <a:srgbClr val="4B5563"/>
                </a:solidFill>
                <a:latin typeface="Arial"/>
              </a:rPr>
              <a:t>Next.js 14 App Router, React Server Components, TypeScript, Tailwind CSS, Lucide Icons, Mobile PWA.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Analytics &amp; Visualizations: </a:t>
            </a:r>
            <a:r>
              <a:rPr sz="1100" b="0">
                <a:solidFill>
                  <a:srgbClr val="4B5563"/>
                </a:solidFill>
                <a:latin typeface="Arial"/>
              </a:rPr>
              <a:t>Recharts (dynamic APMC mandi trends, 7d/14d EMAs), HTML5 QR scanner &amp; SVG generator.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Backend &amp; Security: </a:t>
            </a:r>
            <a:r>
              <a:rPr sz="1100" b="0">
                <a:solidFill>
                  <a:srgbClr val="4B5563"/>
                </a:solidFill>
                <a:latin typeface="Arial"/>
              </a:rPr>
              <a:t>Next.js Route Handlers, Edge Middleware, NextAuth.js multi-role auth (Farmer, FPO, Buyer, Officer).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Data &amp; Reliability Layer: </a:t>
            </a:r>
            <a:r>
              <a:rPr sz="1100" b="0">
                <a:solidFill>
                  <a:srgbClr val="4B5563"/>
                </a:solidFill>
                <a:latin typeface="Arial"/>
              </a:rPr>
              <a:t>Prisma ORM with Dual-Engine DB (PostgreSQL / Neon + SQLite), zero-downtime resilient in-memory mock adapter.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Intelligent Algorithms: </a:t>
            </a:r>
            <a:r>
              <a:rPr sz="1100" b="0">
                <a:solidFill>
                  <a:srgbClr val="4B5563"/>
                </a:solidFill>
                <a:latin typeface="Arial"/>
              </a:rPr>
              <a:t>Time-weighted EMA price heuristic, distance-weighted APMC freight arbitrage optimizer, SHA-256 passport hash.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END-TO-END SYSTEM EXECUTION FLOW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→ Stage 1 (Lot Pooling &amp; Passport): </a:t>
            </a:r>
            <a:r>
              <a:rPr sz="1100" b="0">
                <a:solidFill>
                  <a:srgbClr val="4B5563"/>
                </a:solidFill>
                <a:latin typeface="Arial"/>
              </a:rPr>
              <a:t>Farmer lists harvest or joins FPO pool → Quality grade &amp; moisture recorded → Verifiable QR minted.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→ Stage 2 (Mandi Price Advisory): </a:t>
            </a:r>
            <a:r>
              <a:rPr sz="1100" b="0">
                <a:solidFill>
                  <a:srgbClr val="4B5563"/>
                </a:solidFill>
                <a:latin typeface="Arial"/>
              </a:rPr>
              <a:t>Real-time APMC feeds analyzed → 7d/14d EMA engine advises 'Sell Today' or 'Hold for Peak'.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→ Stage 3 (Bidding &amp; Escrow Funding): </a:t>
            </a:r>
            <a:r>
              <a:rPr sz="1100" b="0">
                <a:solidFill>
                  <a:srgbClr val="4B5563"/>
                </a:solidFill>
                <a:latin typeface="Arial"/>
              </a:rPr>
              <a:t>Verified institutional buyer submits binding contract offer → Full payment secured in 7-stage Milestone Escrow.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→ Stage 4 (Dispatch &amp; Weighment): </a:t>
            </a:r>
            <a:r>
              <a:rPr sz="1100" b="0">
                <a:solidFill>
                  <a:srgbClr val="4B5563"/>
                </a:solidFill>
                <a:latin typeface="Arial"/>
              </a:rPr>
              <a:t>Consignment dispatched with GPS tracking → Delivery hub conducts QR scan &amp; digital weighment sign-off.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→ Stage 5 (Automated Split Settlement): </a:t>
            </a:r>
            <a:r>
              <a:rPr sz="1100" b="0">
                <a:solidFill>
                  <a:srgbClr val="4B5563"/>
                </a:solidFill>
                <a:latin typeface="Arial"/>
              </a:rPr>
              <a:t>Escrow releases funds → Direct split DBT transfers into farmers' bank accounts with zero middlemen.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0E9AD-9E95-773F-EDEC-D68A68EF5C8C}"/>
              </a:ext>
            </a:extLst>
          </p:cNvPr>
          <p:cNvSpPr txBox="1"/>
          <p:nvPr/>
        </p:nvSpPr>
        <p:spPr>
          <a:xfrm>
            <a:off x="865239" y="1639983"/>
            <a:ext cx="165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172A"/>
                </a:solidFill>
                <a:latin typeface="Arial"/>
              </a:defRPr>
            </a:pPr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COMPREHENSIVE FEASIBILITY ANALYSIS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Technical Feasibility: </a:t>
            </a:r>
            <a:r>
              <a:rPr sz="1150" b="0">
                <a:solidFill>
                  <a:srgbClr val="4B5563"/>
                </a:solidFill>
                <a:latin typeface="Arial"/>
              </a:rPr>
              <a:t>Fully developed and deployed live on Vercel with serverless edge architecture, &lt;800ms API response, and responsive mobile-first UI.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Operational Feasibility: </a:t>
            </a:r>
            <a:r>
              <a:rPr sz="1150" b="0">
                <a:solidFill>
                  <a:srgbClr val="4B5563"/>
                </a:solidFill>
                <a:latin typeface="Arial"/>
              </a:rPr>
              <a:t>Integrates smoothly with existing APMC yard infrastructure, MSAMB daily market bulletin formats, and MSWC warehouse networks.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• Economic Viability: </a:t>
            </a:r>
            <a:r>
              <a:rPr sz="1150" b="0">
                <a:solidFill>
                  <a:srgbClr val="4B5563"/>
                </a:solidFill>
                <a:latin typeface="Arial"/>
              </a:rPr>
              <a:t>0% platform listing fee for marginal farmers; self-sustaining 1.25% FPO transaction facilitation fee on completed escrow contracts.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KEY CHALLENGES &amp; ACTIONABLE MITIGATIONS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▲ Digital Literacy Barrier: </a:t>
            </a:r>
            <a:r>
              <a:rPr sz="1150" b="0">
                <a:solidFill>
                  <a:srgbClr val="4B5563"/>
                </a:solidFill>
                <a:latin typeface="Arial"/>
              </a:rPr>
              <a:t>100% vernacular Marathi UI, intuitive visual status cards, audio-assisted prompts, and assisted aggregation by local FPO centers.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▲ Produce Grading Inconsistencies: </a:t>
            </a:r>
            <a:r>
              <a:rPr sz="1150" b="0">
                <a:solidFill>
                  <a:srgbClr val="4B5563"/>
                </a:solidFill>
                <a:latin typeface="Arial"/>
              </a:rPr>
              <a:t>Verifiable QR Lot Passport with immutable moisture/grade logs, pre-dispatch sample sealing, and state-supervised arbitration.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▲ Buyer Payment Defaults &amp; Delays: </a:t>
            </a:r>
            <a:r>
              <a:rPr sz="1150" b="0">
                <a:solidFill>
                  <a:srgbClr val="4B5563"/>
                </a:solidFill>
                <a:latin typeface="Arial"/>
              </a:rPr>
              <a:t>Milestone-locked Escrow guarantees 100% of deal value is locked in trust before harvest leaves the farm gate.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▲ Rural Internet Constraints: </a:t>
            </a:r>
            <a:r>
              <a:rPr sz="1150" b="0">
                <a:solidFill>
                  <a:srgbClr val="4B5563"/>
                </a:solidFill>
                <a:latin typeface="Arial"/>
              </a:rPr>
              <a:t>Lightweight PWA with local browser caching, zero-downtime in-memory fallback, and automated SMS transaction notifications.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Paradex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172A"/>
                </a:solidFill>
                <a:latin typeface="Arial"/>
              </a:defRPr>
            </a:pPr>
            <a:r>
              <a:t>IMPACT AND STAKEHOLDER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65F46"/>
                </a:solidFill>
                <a:latin typeface="Arial"/>
              </a:rPr>
              <a:t>1. Smallholder &amp; Marginal Farmers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Higher Income: </a:t>
            </a:r>
            <a:r>
              <a:rPr sz="1100" b="0">
                <a:solidFill>
                  <a:srgbClr val="4B5563"/>
                </a:solidFill>
                <a:latin typeface="Arial"/>
              </a:rPr>
              <a:t>+14.8% net price realization by eliminating informal middlemen and unauthorized commission deductions.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Guaranteed Payment: </a:t>
            </a:r>
            <a:r>
              <a:rPr sz="1100" b="0">
                <a:solidFill>
                  <a:srgbClr val="4B5563"/>
                </a:solidFill>
                <a:latin typeface="Arial"/>
              </a:rPr>
              <a:t>100% secure escrow settlement credited via direct bank transfer within 24 hours of weighment sign-off.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Bargaining Power: </a:t>
            </a:r>
            <a:r>
              <a:rPr sz="1100" b="0">
                <a:solidFill>
                  <a:srgbClr val="4B5563"/>
                </a:solidFill>
                <a:latin typeface="Arial"/>
              </a:rPr>
              <a:t>Fractional lot aggregation enables smallholders to participate in lucrative bulk corporate contracts.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>
                <a:solidFill>
                  <a:srgbClr val="065F46"/>
                </a:solidFill>
                <a:latin typeface="Arial"/>
              </a:rPr>
              <a:t>2. Farmer Producer Organizations (FPOs)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Agribusiness Modernization: </a:t>
            </a:r>
            <a:r>
              <a:rPr sz="1100" b="0">
                <a:solidFill>
                  <a:srgbClr val="4B5563"/>
                </a:solidFill>
                <a:latin typeface="Arial"/>
              </a:rPr>
              <a:t>Replaces manual ledgers with automated lot pooling and instant split-payout calculations.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Direct Market Access: </a:t>
            </a:r>
            <a:r>
              <a:rPr sz="1100" b="0">
                <a:solidFill>
                  <a:srgbClr val="4B5563"/>
                </a:solidFill>
                <a:latin typeface="Arial"/>
              </a:rPr>
              <a:t>Connects regional FPOs directly with institutional food processors, FMCG brands, and retail chains.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>
                <a:solidFill>
                  <a:srgbClr val="065F46"/>
                </a:solidFill>
                <a:latin typeface="Arial"/>
              </a:rPr>
              <a:t>3. Institutional Buyers &amp; Food Processors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Verifiable Traceability: </a:t>
            </a:r>
            <a:r>
              <a:rPr sz="1100" b="0">
                <a:solidFill>
                  <a:srgbClr val="4B5563"/>
                </a:solidFill>
                <a:latin typeface="Arial"/>
              </a:rPr>
              <a:t>QR Lot Passports guarantee crop origin, harvest date, moisture metrics, and grading consistency.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Procurement Efficiency: </a:t>
            </a:r>
            <a:r>
              <a:rPr sz="1100" b="0">
                <a:solidFill>
                  <a:srgbClr val="4B5563"/>
                </a:solidFill>
                <a:latin typeface="Arial"/>
              </a:rPr>
              <a:t>Reduces sourcing overheads, delivery lead-times, and counterparty delivery default risks.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>
                <a:solidFill>
                  <a:srgbClr val="065F46"/>
                </a:solidFill>
                <a:latin typeface="Arial"/>
              </a:rPr>
              <a:t>4. Government of Maharashtra &amp; Rural Economy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Market Transparency: </a:t>
            </a:r>
            <a:r>
              <a:rPr sz="1100" b="0">
                <a:solidFill>
                  <a:srgbClr val="4B5563"/>
                </a:solidFill>
                <a:latin typeface="Arial"/>
              </a:rPr>
              <a:t>Real-time price &amp; arrival telemetry across 36 districts prevents localized gluts and distress sales.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Policy Alignment: </a:t>
            </a:r>
            <a:r>
              <a:rPr sz="1100" b="0">
                <a:solidFill>
                  <a:srgbClr val="4B5563"/>
                </a:solidFill>
                <a:latin typeface="Arial"/>
              </a:rPr>
              <a:t>Digitally empowers MSAMB, e-NAM, and World Bank SMART Project agribusiness transformation goals.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Paradex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RESEARCH, REFERENCES &amp; LIVE DEMONSTRATION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1">
                <a:solidFill>
                  <a:srgbClr val="065F46"/>
                </a:solidFill>
                <a:latin typeface="Arial"/>
              </a:rPr>
              <a:t>INSTITUTIONAL DATA SOURCES &amp; POLICY BENCHMARKS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Maharashtra State Agricultural Marketing Board (MSAMB): </a:t>
            </a:r>
            <a:r>
              <a:rPr sz="1100" b="0">
                <a:solidFill>
                  <a:srgbClr val="4B5563"/>
                </a:solidFill>
                <a:latin typeface="Arial"/>
              </a:rPr>
              <a:t>Daily APMC mandi arrivals, modal price benchmarks, and Maharashtra APMC Act guidelines.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Agmarknet Portal (DMI, Ministry of Agriculture &amp; Farmers Welfare, GoI): </a:t>
            </a:r>
            <a:r>
              <a:rPr sz="1100" b="0">
                <a:solidFill>
                  <a:srgbClr val="4B5563"/>
                </a:solidFill>
                <a:latin typeface="Arial"/>
              </a:rPr>
              <a:t>Historical daily commodity price trends, seasonal indices, and grade standards.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National Agriculture Market (e-NAM): </a:t>
            </a:r>
            <a:r>
              <a:rPr sz="1100" b="0">
                <a:solidFill>
                  <a:srgbClr val="4B5563"/>
                </a:solidFill>
                <a:latin typeface="Arial"/>
              </a:rPr>
              <a:t>Inter-mandi electronic trading protocols, quality assaying methodologies, and e-NWR frameworks.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World Bank SMART Project (Govt of Maharashtra): </a:t>
            </a:r>
            <a:r>
              <a:rPr sz="1100" b="0">
                <a:solidFill>
                  <a:srgbClr val="4B5563"/>
                </a:solidFill>
                <a:latin typeface="Arial"/>
              </a:rPr>
              <a:t>State of Maharashtra's Agribusiness &amp; Rural Transformation empirical studies on FPO market access.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PRIMARY FIELD RESEARCH &amp; MANDI GROUND TRUTHING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Lasalgaon APMC (Nashik): </a:t>
            </a:r>
            <a:r>
              <a:rPr sz="1100" b="0">
                <a:solidFill>
                  <a:srgbClr val="4B5563"/>
                </a:solidFill>
                <a:latin typeface="Arial"/>
              </a:rPr>
              <a:t>Evaluated onion price volatility, seasonal storage distress, and modal rate fluctuations during peak arrival surges.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Pune Gultekdi APMC: </a:t>
            </a:r>
            <a:r>
              <a:rPr sz="1100" b="0">
                <a:solidFill>
                  <a:srgbClr val="4B5563"/>
                </a:solidFill>
                <a:latin typeface="Arial"/>
              </a:rPr>
              <a:t>Analyzed perishable vegetable supply chains, intermediary commission spreads, and same-day liquidation pressures.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Nashik &amp; Nagpur Mandis: </a:t>
            </a:r>
            <a:r>
              <a:rPr sz="1100" b="0">
                <a:solidFill>
                  <a:srgbClr val="4B5563"/>
                </a:solidFill>
                <a:latin typeface="Arial"/>
              </a:rPr>
              <a:t>Studied cold chain requirements for export-grade grapes, tomato logistics, and soybean/cotton industrial procurement.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• Kolhapur APMC: </a:t>
            </a:r>
            <a:r>
              <a:rPr sz="1100" b="0">
                <a:solidFill>
                  <a:srgbClr val="4B5563"/>
                </a:solidFill>
                <a:latin typeface="Arial"/>
              </a:rPr>
              <a:t>Examined regional jaggery (Gur) and commercial sugarcane pricing patterns, grading tiers, and delayed payment bottlenecks.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065F46"/>
                </a:solidFill>
                <a:latin typeface="Arial"/>
              </a:rPr>
              <a:t>LIVE PLATFORM &amp; OPEN-SOURCE VERIFICATION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★ Live Production Platform: </a:t>
            </a:r>
            <a:r>
              <a:rPr sz="1100" b="0">
                <a:solidFill>
                  <a:srgbClr val="1F2937"/>
                </a:solidFill>
                <a:latin typeface="Arial"/>
              </a:rPr>
              <a:t>https://agriconnect-maharashtra.vercel.app (100% active, bilingual, instant demo roles)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47857"/>
                </a:solidFill>
                <a:latin typeface="Arial"/>
              </a:rPr>
              <a:t>★ GitHub Source Code Repository: </a:t>
            </a:r>
            <a:r>
              <a:rPr sz="1100" b="0">
                <a:solidFill>
                  <a:srgbClr val="1F2937"/>
                </a:solidFill>
                <a:latin typeface="Arial"/>
              </a:rPr>
              <a:t>https://github.com/abdul-halik-ai/agriconnect-maharashtra (Production Next.js 14 codebase)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Paradex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232</Words>
  <Application>Microsoft Office PowerPoint</Application>
  <PresentationFormat>Widescreen</PresentationFormat>
  <Paragraphs>91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harinisuresh2006@outlook.com</cp:lastModifiedBy>
  <cp:revision>160</cp:revision>
  <dcterms:created xsi:type="dcterms:W3CDTF">2013-12-12T18:46:50Z</dcterms:created>
  <dcterms:modified xsi:type="dcterms:W3CDTF">2026-09-08T13:22:48Z</dcterms:modified>
  <cp:category/>
</cp:coreProperties>
</file>